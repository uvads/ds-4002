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  <p:embeddedFont>
      <p:font typeface="Playfair Display ExtraBold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PlayfairDisplayExtraBold-bold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PlayfairDisplayExtraBol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b9249454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b9249454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b9249454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b9249454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b9249454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b9249454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b9249454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b9249454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b9249454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b9249454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b9249454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b9249454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ExtraBold"/>
                <a:ea typeface="Playfair Display ExtraBold"/>
                <a:cs typeface="Playfair Display ExtraBold"/>
                <a:sym typeface="Playfair Display ExtraBold"/>
              </a:rPr>
              <a:t>Are hot dogs sandwiches?</a:t>
            </a:r>
            <a:endParaRPr>
              <a:latin typeface="Playfair Display ExtraBold"/>
              <a:ea typeface="Playfair Display ExtraBold"/>
              <a:cs typeface="Playfair Display ExtraBold"/>
              <a:sym typeface="Playfair Display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Joanne, Kaitlyn &amp; Victoria</a:t>
            </a:r>
            <a:endParaRPr sz="1300"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3">
            <a:alphaModFix/>
          </a:blip>
          <a:srcRect b="10128" l="34663" r="34836" t="8971"/>
          <a:stretch/>
        </p:blipFill>
        <p:spPr>
          <a:xfrm rot="5400000">
            <a:off x="9788900" y="239425"/>
            <a:ext cx="1568725" cy="4160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 &amp; Hypothesis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topic of whether a hot dog is a sandwich has been widely debated by people around the globe for ages.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come to an answer for this age old question, we decided to poll the student population of UVA to see their thoughts.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Prior to the investigation, the class hypothesis was that: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>
                <a:solidFill>
                  <a:schemeClr val="dk1"/>
                </a:solidFill>
              </a:rPr>
              <a:t>Less than </a:t>
            </a:r>
            <a:r>
              <a:rPr b="1" i="1" lang="en">
                <a:solidFill>
                  <a:schemeClr val="dk1"/>
                </a:solidFill>
              </a:rPr>
              <a:t>½</a:t>
            </a:r>
            <a:r>
              <a:rPr i="1" lang="en">
                <a:solidFill>
                  <a:schemeClr val="dk1"/>
                </a:solidFill>
              </a:rPr>
              <a:t> of full-time, undergraduate, UVA students believe a hot dog is a sandwich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255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Data was collected via a Google Form, sent out to friends of class DS 4002, section two.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Total Responses:</a:t>
            </a:r>
            <a:r>
              <a:rPr lang="en">
                <a:solidFill>
                  <a:schemeClr val="dk1"/>
                </a:solidFill>
              </a:rPr>
              <a:t> 76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372675" y="1269600"/>
            <a:ext cx="5357700" cy="34875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Questions</a:t>
            </a:r>
            <a:r>
              <a:rPr lang="en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Are you a full-time undergraduate UVA student? 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Choices: Yes, No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What year are you?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Choices: 1st, 2nd, 3rd, 4th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Do you believe a hotdog is a sandwich?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Choices: Yes, No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a penguin with a long tongue is surrounded by hot dogs with mustard on them (Provided by Tenor)"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350" y="3266150"/>
            <a:ext cx="2289925" cy="1606851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Analysis Plan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017725"/>
            <a:ext cx="8520600" cy="3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Cleaning Data: 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Downloaded Google Form data as .csv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Drop Timestamp column (automatically collected when filling out Google Form)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Drop any rows where students answered “no” to “Are you a full-time undergraduate UVA student?”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">
                <a:solidFill>
                  <a:schemeClr val="dk1"/>
                </a:solidFill>
              </a:rPr>
              <a:t>Change all data types to str for analysis purposes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Data Analysis and Visualization: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Examine </a:t>
            </a:r>
            <a:r>
              <a:rPr lang="en">
                <a:solidFill>
                  <a:schemeClr val="dk1"/>
                </a:solidFill>
              </a:rPr>
              <a:t>overall responses, responses by class year, and sample distribution by class year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Plot results via bar and circle graph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&amp; Findings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91" y="978475"/>
            <a:ext cx="3758025" cy="2228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7900" y="40727"/>
            <a:ext cx="5306876" cy="2401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8525" y="2571750"/>
            <a:ext cx="4333776" cy="258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225125" y="3307775"/>
            <a:ext cx="4035300" cy="17232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highlight the disproportionate rate of 4th years and the </a:t>
            </a:r>
            <a:r>
              <a:rPr lang="en"/>
              <a:t>underrepresentation</a:t>
            </a:r>
            <a:r>
              <a:rPr lang="en"/>
              <a:t> of 1st, 2nd and 3rd years.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also examine how the vast majority (76.3%) of students polled believed hot dogs were </a:t>
            </a:r>
            <a:r>
              <a:rPr b="1" lang="en"/>
              <a:t>not</a:t>
            </a:r>
            <a:r>
              <a:rPr lang="en"/>
              <a:t> sandwiches, further strengthening and even exceeding our hypothesis.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Biases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1. SAMPLING BIAS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Total responses: 76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Year distribution: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2nd: 11 (14.5%)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3rd: 10 (13.2%)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4th: 55 (72.4%) 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 </a:t>
            </a:r>
            <a:r>
              <a:rPr b="1" lang="en" sz="900">
                <a:solidFill>
                  <a:schemeClr val="dk1"/>
                </a:solidFill>
              </a:rPr>
              <a:t>2. RESPONSE BIAS / NON-RESPONSE BIAS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Total sample size: 76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Potential issues: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• Self-selection bias: Only students who chose to respond are included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• Students with strong opinions may be more likely to respond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  • Survey distribution method may have reached certain demographics more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chemeClr val="dk1"/>
                </a:solidFill>
              </a:rPr>
              <a:t>   Results may not be generalizable to all UVA undergraduates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900">
                <a:solidFill>
                  <a:schemeClr val="dk1"/>
                </a:solidFill>
              </a:rPr>
              <a:t>3. COVERAGE BIAS</a:t>
            </a:r>
            <a:endParaRPr b="1"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Survey limited to full-time undergraduate UVA students in DS4002 class, not general UVA population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Excludes: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  • Students outside this classroom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>
                <a:solidFill>
                  <a:schemeClr val="dk1"/>
                </a:solidFill>
              </a:rPr>
              <a:t>  • Students who didn't see/access the survey during the 2 day period (wednesday and thursday)</a:t>
            </a:r>
            <a:endParaRPr sz="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2147325" y="1350825"/>
            <a:ext cx="2105700" cy="652500"/>
          </a:xfrm>
          <a:prstGeom prst="wedgeRectCallout">
            <a:avLst>
              <a:gd fmla="val -86592" name="adj1"/>
              <a:gd fmla="val 52184" name="adj2"/>
            </a:avLst>
          </a:prstGeom>
          <a:solidFill>
            <a:srgbClr val="DD7E6B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i="1" lang="en" sz="1000">
                <a:solidFill>
                  <a:schemeClr val="dk1"/>
                </a:solidFill>
              </a:rPr>
              <a:t>  This may not reflect the true UVA undergraduate population distribution.</a:t>
            </a:r>
            <a:endParaRPr i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To increase validity of this study, we would </a:t>
            </a:r>
            <a:r>
              <a:rPr lang="en">
                <a:solidFill>
                  <a:schemeClr val="dk1"/>
                </a:solidFill>
              </a:rPr>
              <a:t>recommend: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Increasing sample size by distributing the form (via link) to the largest quantity of students possible.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With this, we can investigate on a wider and more diverse population, ranging from 1st to 4th years in all different majors.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Add more questions in the poll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It would be interesting to investigate trends in how people with different genders or ethnicities (for example) would answer the research question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