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57DF21-8F30-4068-A62A-64DF8D4690A8}">
  <a:tblStyle styleId="{7E57DF21-8F30-4068-A62A-64DF8D4690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b90dd6b9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b90dd6b9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b90dd6b9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b90dd6b9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b90dd6b9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b90dd6b9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b90dd6b93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b90dd6b93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b90dd6b93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b90dd6b93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b90dd6b93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b90dd6b93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 Hotdog a Sandwich?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2052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DS 4002 Project 0</a:t>
            </a:r>
            <a:endParaRPr/>
          </a:p>
        </p:txBody>
      </p:sp>
      <p:pic>
        <p:nvPicPr>
          <p:cNvPr id="56" name="Google Shape;56;p13" title="01GRILL-HOTDOGS-REX-cqwj-mediumSquareAt3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775" y="2290025"/>
            <a:ext cx="2853477" cy="2853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200w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850" y="2254350"/>
            <a:ext cx="19050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question</a:t>
            </a:r>
            <a:r>
              <a:rPr lang="en"/>
              <a:t> of whether a hot dog is a sandwich has been debated for years, and we wanted to see what UVA students thought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Literature on this subject had varying opinions so we wanted to see if surveying several students would give a clearer answer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775" y="2730200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352" y="2635840"/>
            <a:ext cx="3097850" cy="20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Less than half of full-time undergraduate students at UVA believe that a hotdog is a sandwich.</a:t>
            </a:r>
            <a:endParaRPr>
              <a:solidFill>
                <a:srgbClr val="980000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00" y="2160975"/>
            <a:ext cx="3911775" cy="26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550" y="2160983"/>
            <a:ext cx="3911775" cy="2187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436600" y="240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970800"/>
            <a:ext cx="30039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Responses: 79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Full-time students: 76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>
                <a:solidFill>
                  <a:srgbClr val="FFFF00"/>
                </a:solidFill>
                <a:highlight>
                  <a:srgbClr val="B45F06"/>
                </a:highlight>
              </a:rPr>
            </a:br>
            <a:endParaRPr>
              <a:solidFill>
                <a:srgbClr val="980000"/>
              </a:solidFill>
            </a:endParaRPr>
          </a:p>
        </p:txBody>
      </p:sp>
      <p:pic>
        <p:nvPicPr>
          <p:cNvPr id="80" name="Google Shape;80;p16" title="Screenshot 2026-01-23 at 11.11.1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200" y="2571750"/>
            <a:ext cx="7166999" cy="21516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" name="Google Shape;81;p16"/>
          <p:cNvGraphicFramePr/>
          <p:nvPr/>
        </p:nvGraphicFramePr>
        <p:xfrm>
          <a:off x="3513600" y="156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{7E57DF21-8F30-4068-A62A-64DF8D4690A8}</a:tableStyleId>
              </a:tblPr>
              <a:tblGrid>
                <a:gridCol w="1065000"/>
                <a:gridCol w="678975"/>
                <a:gridCol w="769800"/>
                <a:gridCol w="735725"/>
                <a:gridCol w="656250"/>
              </a:tblGrid>
              <a:tr h="40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Year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1st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2nd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3rd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4th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40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Count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82" name="Google Shape;82;p16"/>
          <p:cNvSpPr txBox="1"/>
          <p:nvPr/>
        </p:nvSpPr>
        <p:spPr>
          <a:xfrm>
            <a:off x="3429000" y="147575"/>
            <a:ext cx="4939200" cy="1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highlight>
                  <a:srgbClr val="B45F06"/>
                </a:highlight>
              </a:rPr>
              <a:t>Do you believe a hot dog is a sandwich?  </a:t>
            </a:r>
            <a:endParaRPr sz="1800">
              <a:solidFill>
                <a:schemeClr val="lt1"/>
              </a:solidFill>
              <a:highlight>
                <a:srgbClr val="B45F0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80000"/>
                </a:solidFill>
              </a:rPr>
              <a:t>Count of students who responded “Yes”: 13</a:t>
            </a:r>
            <a:endParaRPr sz="18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980000"/>
                </a:solidFill>
              </a:rPr>
              <a:t>Count of students who responded “No”: 63</a:t>
            </a:r>
            <a:endParaRPr sz="1800"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08750" y="2157325"/>
            <a:ext cx="24186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Google form survey ↓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Plan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cleaning: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Removed rows where respondents were not full-time undergraduate students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Visualizations: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Created various plots and charts in Google Sheets to convey survey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 a pie chart to visually show yes vs. 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Created a Pivot Table from the data to show breakdown by student year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Statistical Significance: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Conducted one-tailed z-test to determine if sample proportion had significant difference from null value (0.5)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conducted chi-square test to see if the difference in opinions between each student year was significant</a:t>
            </a:r>
            <a:endParaRPr/>
          </a:p>
        </p:txBody>
      </p:sp>
      <p:pic>
        <p:nvPicPr>
          <p:cNvPr id="90" name="Google Shape;90;p17" title="pngtree-an-animated-hot-dog-character-with-a-smiling-face-giving-thumbs-png-image_203539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8400" y="0"/>
            <a:ext cx="1895598" cy="189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Results/Findings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1819" y="1338591"/>
            <a:ext cx="3093450" cy="194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354" y="1092775"/>
            <a:ext cx="4783749" cy="29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153438" y="4598231"/>
            <a:ext cx="875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Chi-square test</a:t>
            </a:r>
            <a:r>
              <a:rPr lang="en" sz="1200">
                <a:solidFill>
                  <a:schemeClr val="dk2"/>
                </a:solidFill>
              </a:rPr>
              <a:t>: Contrary to our visual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observations, we found that the distribution of opinions did not differ significantly between the years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160800" y="4050725"/>
            <a:ext cx="898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Z-test</a:t>
            </a:r>
            <a:r>
              <a:rPr lang="en" sz="1200">
                <a:solidFill>
                  <a:schemeClr val="dk2"/>
                </a:solidFill>
              </a:rPr>
              <a:t>: z-statistic of -5.74 and p-value of &lt;0.0001, indicating statistical difference in the sample proportion from null value. Thus, we reject the null hypothesis and our hypothesis is supported. 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1" name="Google Shape;101;p18" title="Hot_Dog_Transparent_PNG_Clipart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5400" y="0"/>
            <a:ext cx="2088300" cy="9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Survey</a:t>
            </a:r>
            <a:r>
              <a:rPr lang="en"/>
              <a:t> more 1st and 2nd year students. This data is biased towards 3rd and 4th years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Survey by major or school department to make sure all </a:t>
            </a:r>
            <a:r>
              <a:rPr lang="en"/>
              <a:t>undergraduate</a:t>
            </a:r>
            <a:r>
              <a:rPr lang="en"/>
              <a:t> students at UVA are represented </a:t>
            </a:r>
            <a:endParaRPr/>
          </a:p>
        </p:txBody>
      </p:sp>
      <p:pic>
        <p:nvPicPr>
          <p:cNvPr id="108" name="Google Shape;108;p19" title="pngtree-cartoon-funny-hot-dog-giving-thumb-up-png-image_212849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850" y="2233675"/>
            <a:ext cx="2909824" cy="290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275" y="2668276"/>
            <a:ext cx="3522450" cy="218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